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man Miranda" userId="c7b10592e1de0a71" providerId="LiveId" clId="{28A802FA-D023-4584-A3FB-5D8EC1040C49}"/>
    <pc:docChg chg="custSel modSld">
      <pc:chgData name="Willman Miranda" userId="c7b10592e1de0a71" providerId="LiveId" clId="{28A802FA-D023-4584-A3FB-5D8EC1040C49}" dt="2026-09-29T16:36:45.463" v="58" actId="20577"/>
      <pc:docMkLst>
        <pc:docMk/>
      </pc:docMkLst>
      <pc:sldChg chg="addSp modSp mod">
        <pc:chgData name="Willman Miranda" userId="c7b10592e1de0a71" providerId="LiveId" clId="{28A802FA-D023-4584-A3FB-5D8EC1040C49}" dt="2026-09-29T16:36:45.463" v="58" actId="20577"/>
        <pc:sldMkLst>
          <pc:docMk/>
          <pc:sldMk cId="0" sldId="256"/>
        </pc:sldMkLst>
        <pc:spChg chg="add mod">
          <ac:chgData name="Willman Miranda" userId="c7b10592e1de0a71" providerId="LiveId" clId="{28A802FA-D023-4584-A3FB-5D8EC1040C49}" dt="2026-09-29T16:36:45.463" v="58" actId="20577"/>
          <ac:spMkLst>
            <pc:docMk/>
            <pc:sldMk cId="0" sldId="256"/>
            <ac:spMk id="12" creationId="{A2188160-FD0F-DA1E-1373-28C376D801E1}"/>
          </ac:spMkLst>
        </pc:spChg>
      </pc:sldChg>
      <pc:sldChg chg="delSp modSp mod">
        <pc:chgData name="Willman Miranda" userId="c7b10592e1de0a71" providerId="LiveId" clId="{28A802FA-D023-4584-A3FB-5D8EC1040C49}" dt="2026-09-29T16:36:19.332" v="22" actId="1076"/>
        <pc:sldMkLst>
          <pc:docMk/>
          <pc:sldMk cId="0" sldId="265"/>
        </pc:sldMkLst>
        <pc:spChg chg="del">
          <ac:chgData name="Willman Miranda" userId="c7b10592e1de0a71" providerId="LiveId" clId="{28A802FA-D023-4584-A3FB-5D8EC1040C49}" dt="2026-09-29T16:35:43.271" v="0" actId="478"/>
          <ac:spMkLst>
            <pc:docMk/>
            <pc:sldMk cId="0" sldId="265"/>
            <ac:spMk id="2" creationId="{00000000-0000-0000-0000-000000000000}"/>
          </ac:spMkLst>
        </pc:spChg>
        <pc:spChg chg="del">
          <ac:chgData name="Willman Miranda" userId="c7b10592e1de0a71" providerId="LiveId" clId="{28A802FA-D023-4584-A3FB-5D8EC1040C49}" dt="2026-09-29T16:35:50.396" v="2" actId="478"/>
          <ac:spMkLst>
            <pc:docMk/>
            <pc:sldMk cId="0" sldId="265"/>
            <ac:spMk id="3" creationId="{00000000-0000-0000-0000-000000000000}"/>
          </ac:spMkLst>
        </pc:spChg>
        <pc:spChg chg="mod">
          <ac:chgData name="Willman Miranda" userId="c7b10592e1de0a71" providerId="LiveId" clId="{28A802FA-D023-4584-A3FB-5D8EC1040C49}" dt="2026-09-29T16:36:19.332" v="22" actId="1076"/>
          <ac:spMkLst>
            <pc:docMk/>
            <pc:sldMk cId="0" sldId="265"/>
            <ac:spMk id="4" creationId="{00000000-0000-0000-0000-000000000000}"/>
          </ac:spMkLst>
        </pc:spChg>
        <pc:spChg chg="del">
          <ac:chgData name="Willman Miranda" userId="c7b10592e1de0a71" providerId="LiveId" clId="{28A802FA-D023-4584-A3FB-5D8EC1040C49}" dt="2026-09-29T16:35:46.290" v="1" actId="478"/>
          <ac:spMkLst>
            <pc:docMk/>
            <pc:sldMk cId="0" sldId="265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522440"/>
            <a:ext cx="2266950" cy="409575"/>
          </a:xfrm>
          <a:prstGeom prst="roundRect">
            <a:avLst>
              <a:gd name="adj" fmla="val 18604"/>
            </a:avLst>
          </a:prstGeom>
          <a:solidFill>
            <a:srgbClr val="223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333750" y="4522440"/>
            <a:ext cx="2466975" cy="409575"/>
          </a:xfrm>
          <a:prstGeom prst="roundRect">
            <a:avLst>
              <a:gd name="adj" fmla="val 18604"/>
            </a:avLst>
          </a:prstGeom>
          <a:solidFill>
            <a:srgbClr val="223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641502"/>
            <a:ext cx="219075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50" y="4641502"/>
            <a:ext cx="171450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925984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52B788"/>
                </a:solidFill>
                <a:latin typeface="Plus Jakarta Sans"/>
              </a:rPr>
              <a:t>SIS-131 • ARQUITECTURA DE COMPUTADORAS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78409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Simulador de CPU de 8 Bits en Excel / VBA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46140"/>
            <a:ext cx="6953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B7E4C7"/>
                </a:solidFill>
                <a:latin typeface="Plus Jakarta Sans"/>
              </a:rPr>
              <a:t>Modelado a nivel de transferencia de registros (RTL) basado en la Arquitectura Von Neumann.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" y="4636740"/>
            <a:ext cx="1940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8F5E9"/>
                </a:solidFill>
                <a:latin typeface="Plus Jakarta Sans"/>
              </a:rPr>
              <a:t>Ingeniería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0" y="4636740"/>
            <a:ext cx="22502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E8F5E9"/>
                </a:solidFill>
                <a:latin typeface="Plus Jakarta Sans"/>
              </a:rPr>
              <a:t>Procesador Von Neumann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A2188160-FD0F-DA1E-1373-28C376D801E1}"/>
              </a:ext>
            </a:extLst>
          </p:cNvPr>
          <p:cNvSpPr txBox="1"/>
          <p:nvPr/>
        </p:nvSpPr>
        <p:spPr>
          <a:xfrm>
            <a:off x="762000" y="5505396"/>
            <a:ext cx="212923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s-ES" sz="1200" b="1" i="0" u="none" dirty="0">
                <a:solidFill>
                  <a:srgbClr val="52B788"/>
                </a:solidFill>
                <a:latin typeface="Plus Jakarta Sans"/>
              </a:rPr>
              <a:t>Willman Eduardo </a:t>
            </a:r>
            <a:r>
              <a:rPr lang="es-ES" sz="1200" b="1" i="0" u="none">
                <a:solidFill>
                  <a:srgbClr val="52B788"/>
                </a:solidFill>
                <a:latin typeface="Plus Jakarta Sans"/>
              </a:rPr>
              <a:t>Miranda Rivero</a:t>
            </a:r>
            <a:endParaRPr sz="1200" b="1" i="0" u="none" dirty="0">
              <a:solidFill>
                <a:srgbClr val="52B788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776537"/>
            <a:ext cx="3403550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776537"/>
            <a:ext cx="3403550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776537"/>
            <a:ext cx="3403550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908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30908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625" y="30908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3214687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300" y="3214687"/>
            <a:ext cx="2095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8263" y="3214687"/>
            <a:ext cx="16192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VISIÓN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Arquitectura del 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738562"/>
            <a:ext cx="36420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Plus Jakarta Sans"/>
              </a:rPr>
              <a:t>Memoria RAM Unificada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090987"/>
            <a:ext cx="28701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0916C"/>
                </a:solidFill>
                <a:latin typeface="Plus Jakarta Sans"/>
              </a:rPr>
              <a:t>256 bytes mapeados en formato hexadecimal compartidos entre código y datos.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3738562"/>
            <a:ext cx="36420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Plus Jakarta Sans"/>
              </a:rPr>
              <a:t>Unidad de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475" y="4090987"/>
            <a:ext cx="2870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0916C"/>
                </a:solidFill>
                <a:latin typeface="Plus Jakarta Sans"/>
              </a:rPr>
              <a:t>Gestión de ciclo secuencial mediante registros PC, IR, MAR, MDR y SP.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738562"/>
            <a:ext cx="364205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Plus Jakarta Sans"/>
              </a:rPr>
              <a:t>ALU y Registros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4090987"/>
            <a:ext cx="28701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0916C"/>
                </a:solidFill>
                <a:latin typeface="Plus Jakarta Sans"/>
              </a:rPr>
              <a:t>Procesamiento aritmético en AX y BX con actualización automática de banderas.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52700"/>
            <a:ext cx="10668000" cy="819150"/>
          </a:xfrm>
          <a:prstGeom prst="roundRect">
            <a:avLst>
              <a:gd name="adj" fmla="val 9302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3524250"/>
            <a:ext cx="10668000" cy="819150"/>
          </a:xfrm>
          <a:prstGeom prst="roundRect">
            <a:avLst>
              <a:gd name="adj" fmla="val 9302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495800"/>
            <a:ext cx="10668000" cy="819150"/>
          </a:xfrm>
          <a:prstGeom prst="roundRect">
            <a:avLst>
              <a:gd name="adj" fmla="val 9302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62000" y="2552700"/>
            <a:ext cx="57150" cy="81915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15425" y="2819400"/>
            <a:ext cx="2047875" cy="285750"/>
          </a:xfrm>
          <a:prstGeom prst="roundRect">
            <a:avLst>
              <a:gd name="adj" fmla="val 50000"/>
            </a:avLst>
          </a:prstGeom>
          <a:solidFill>
            <a:srgbClr val="D8F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3524250"/>
            <a:ext cx="57150" cy="81915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20225" y="3790950"/>
            <a:ext cx="1743075" cy="285750"/>
          </a:xfrm>
          <a:prstGeom prst="roundRect">
            <a:avLst>
              <a:gd name="adj" fmla="val 50000"/>
            </a:avLst>
          </a:prstGeom>
          <a:solidFill>
            <a:srgbClr val="B7E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4495800"/>
            <a:ext cx="57150" cy="81915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229725" y="4762500"/>
            <a:ext cx="1933575" cy="285750"/>
          </a:xfrm>
          <a:prstGeom prst="roundRect">
            <a:avLst>
              <a:gd name="adj" fmla="val 50000"/>
            </a:avLst>
          </a:prstGeom>
          <a:solidFill>
            <a:srgbClr val="74C6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MAPA DE MEMORIA 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Segmentación de 256 Bytes (00h - FFh)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67825" y="2876550"/>
            <a:ext cx="1838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B4332"/>
                </a:solidFill>
                <a:latin typeface="Plus Jakarta Sans"/>
              </a:rPr>
              <a:t>Instrucciones Ensamblador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2625" y="3848100"/>
            <a:ext cx="15335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B4332"/>
                </a:solidFill>
                <a:latin typeface="Plus Jakarta Sans"/>
              </a:rPr>
              <a:t>Variables y Resultados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2125" y="4819650"/>
            <a:ext cx="1724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281E"/>
                </a:solidFill>
                <a:latin typeface="Plus Jakarta Sans"/>
              </a:rPr>
              <a:t>Estructura LIFO (SP = FFh)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2743200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Segmento de Código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3000375"/>
            <a:ext cx="2774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0916C"/>
                </a:solidFill>
                <a:latin typeface="Plus Jakarta Sans"/>
              </a:rPr>
              <a:t>Direcciones 00h a 0Fh (16 Bytes)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850" y="3714750"/>
            <a:ext cx="29753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Segmento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5850" y="3971925"/>
            <a:ext cx="2833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0916C"/>
                </a:solidFill>
                <a:latin typeface="Plus Jakarta Sans"/>
              </a:rPr>
              <a:t>Direcciones 10h a EFh (224 Bytes)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" y="4686300"/>
            <a:ext cx="28628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Segmento de Pila (Stack)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5850" y="4943475"/>
            <a:ext cx="2726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0916C"/>
                </a:solidFill>
                <a:latin typeface="Plus Jakarta Sans"/>
              </a:rPr>
              <a:t>Direcciones F0h a FFh (16 Bytes)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562225"/>
            <a:ext cx="10668000" cy="2628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2000" y="2562225"/>
          <a:ext cx="10667999" cy="2628900"/>
        </p:xfrm>
        <a:graphic>
          <a:graphicData uri="http://schemas.openxmlformats.org/drawingml/2006/table">
            <a:tbl>
              <a:tblPr/>
              <a:tblGrid>
                <a:gridCol w="16356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7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0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Opcode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Mnemónico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Tamaño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Descripción Operacional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D6A4F"/>
                          </a:solidFill>
                          <a:latin typeface="Plus Jakarta Sans"/>
                        </a:rPr>
                        <a:t>10h / 11h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B4332"/>
                          </a:solidFill>
                          <a:latin typeface="Plus Jakarta Sans"/>
                        </a:rPr>
                        <a:t>MOV reg, imm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3748"/>
                          </a:solidFill>
                          <a:latin typeface="Plus Jakarta Sans"/>
                        </a:rPr>
                        <a:t>Carga valor inmediato en AX o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D6A4F"/>
                          </a:solidFill>
                          <a:latin typeface="Plus Jakarta Sans"/>
                        </a:rPr>
                        <a:t>13h / 14h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B4332"/>
                          </a:solidFill>
                          <a:latin typeface="Plus Jakarta Sans"/>
                        </a:rPr>
                        <a:t>STORE [dir], reg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3748"/>
                          </a:solidFill>
                          <a:latin typeface="Plus Jakarta Sans"/>
                        </a:rPr>
                        <a:t>Guarda contenido de registro en 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D6A4F"/>
                          </a:solidFill>
                          <a:latin typeface="Plus Jakarta Sans"/>
                        </a:rPr>
                        <a:t>20h / 25h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B4332"/>
                          </a:solidFill>
                          <a:latin typeface="Plus Jakarta Sans"/>
                        </a:rPr>
                        <a:t>ADD AX, imm /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1-2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3748"/>
                          </a:solidFill>
                          <a:latin typeface="Plus Jakarta Sans"/>
                        </a:rPr>
                        <a:t>Suma acumulativa en registro AX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D6A4F"/>
                          </a:solidFill>
                          <a:latin typeface="Plus Jakarta Sans"/>
                        </a:rPr>
                        <a:t>23h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B4332"/>
                          </a:solidFill>
                          <a:latin typeface="Plus Jakarta Sans"/>
                        </a:rPr>
                        <a:t>DEC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 Byte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3748"/>
                          </a:solidFill>
                          <a:latin typeface="Plus Jakarta Sans"/>
                        </a:rPr>
                        <a:t>Decrementa BX y actualiza bandera ZF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2D6A4F"/>
                          </a:solidFill>
                          <a:latin typeface="Plus Jakarta Sans"/>
                        </a:rPr>
                        <a:t>32h / FFh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1B4332"/>
                          </a:solidFill>
                          <a:latin typeface="Plus Jakarta Sans"/>
                        </a:rPr>
                        <a:t>JNZ dir / HLT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1-2 Bytes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D3748"/>
                          </a:solidFill>
                          <a:latin typeface="Plus Jakarta Sans"/>
                        </a:rPr>
                        <a:t>Salto condicional si ZF==0 / Detención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REPERTORIO 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Instrucciones Principales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186112"/>
            <a:ext cx="2552700" cy="1495425"/>
          </a:xfrm>
          <a:prstGeom prst="roundRect">
            <a:avLst>
              <a:gd name="adj" fmla="val 7643"/>
            </a:avLst>
          </a:prstGeom>
          <a:solidFill>
            <a:srgbClr val="F4F9F5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3186112"/>
            <a:ext cx="2552700" cy="1495425"/>
          </a:xfrm>
          <a:prstGeom prst="roundRect">
            <a:avLst>
              <a:gd name="adj" fmla="val 7643"/>
            </a:avLst>
          </a:prstGeom>
          <a:solidFill>
            <a:srgbClr val="F4F9F5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72200" y="3186112"/>
            <a:ext cx="2552700" cy="1495425"/>
          </a:xfrm>
          <a:prstGeom prst="roundRect">
            <a:avLst>
              <a:gd name="adj" fmla="val 7643"/>
            </a:avLst>
          </a:prstGeom>
          <a:solidFill>
            <a:srgbClr val="F4F9F5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77300" y="3186112"/>
            <a:ext cx="2552700" cy="1495425"/>
          </a:xfrm>
          <a:prstGeom prst="roundRect">
            <a:avLst>
              <a:gd name="adj" fmla="val 7643"/>
            </a:avLst>
          </a:prstGeom>
          <a:solidFill>
            <a:srgbClr val="F4F9F5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EJECUCIÓN SECUENCIAL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Ciclo de Instrucción de 4 Fases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424237"/>
            <a:ext cx="2595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786187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081462"/>
            <a:ext cx="21717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Lectura de la RAM hacia el registro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5225" y="3424237"/>
            <a:ext cx="2595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0916C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225" y="3786187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Decode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225" y="4081462"/>
            <a:ext cx="21717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Decodificación de Opcode por la Control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0325" y="3424237"/>
            <a:ext cx="2595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D6A4F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0325" y="3786187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4081462"/>
            <a:ext cx="21717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Cómputo en ALU o salto condicional JNZ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5425" y="3424237"/>
            <a:ext cx="259556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B4332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3786187"/>
            <a:ext cx="27253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Store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4081462"/>
            <a:ext cx="21717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Escritura del resultado en registro o memoria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957512"/>
            <a:ext cx="5101976" cy="1914525"/>
          </a:xfrm>
          <a:prstGeom prst="roundRect">
            <a:avLst>
              <a:gd name="adj" fmla="val 7960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4976" y="2562225"/>
            <a:ext cx="5185023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4976" y="3514725"/>
            <a:ext cx="5185023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4976" y="4467225"/>
            <a:ext cx="5185023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44976" y="2562225"/>
            <a:ext cx="38100" cy="800100"/>
          </a:xfrm>
          <a:prstGeom prst="rect">
            <a:avLst/>
          </a:prstGeom>
          <a:solidFill>
            <a:srgbClr val="52B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4976" y="3514725"/>
            <a:ext cx="38100" cy="800100"/>
          </a:xfrm>
          <a:prstGeom prst="rect">
            <a:avLst/>
          </a:prstGeom>
          <a:solidFill>
            <a:srgbClr val="409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44976" y="4467225"/>
            <a:ext cx="38100" cy="80010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DEMOSTRACIÓN PRÁCTICA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Multiplicación por Sumas Sucesivas (3 × 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09" y="3348037"/>
            <a:ext cx="540115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>
                <a:solidFill>
                  <a:srgbClr val="1B4332"/>
                </a:solidFill>
                <a:latin typeface="Plus Jakarta Sans"/>
              </a:rPr>
              <a:t>0Ch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409" y="4262437"/>
            <a:ext cx="540115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40916C"/>
                </a:solidFill>
                <a:latin typeface="Plus Jakarta Sans"/>
              </a:rPr>
              <a:t>Valor final acumulado (12 Decimal)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576" y="2752725"/>
            <a:ext cx="57184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1. Inicialización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576" y="2990850"/>
            <a:ext cx="571842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Acumulador AX = 00h, Contador BX = 03h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576" y="3705225"/>
            <a:ext cx="57184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2. Acumulación Bucle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576" y="3943350"/>
            <a:ext cx="571842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Suma iterativa de 04h a AX controlada por JNZ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576" y="4657725"/>
            <a:ext cx="571842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3. Guardado en Memoria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576" y="4895850"/>
            <a:ext cx="571842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STORE de resultado final en RAM[10h]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205162"/>
            <a:ext cx="2524125" cy="1419225"/>
          </a:xfrm>
          <a:prstGeom prst="roundRect">
            <a:avLst>
              <a:gd name="adj" fmla="val 8053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76625" y="3205162"/>
            <a:ext cx="2524125" cy="1419225"/>
          </a:xfrm>
          <a:prstGeom prst="roundRect">
            <a:avLst>
              <a:gd name="adj" fmla="val 8053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05162"/>
            <a:ext cx="2524125" cy="1419225"/>
          </a:xfrm>
          <a:prstGeom prst="roundRect">
            <a:avLst>
              <a:gd name="adj" fmla="val 8053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05875" y="3205162"/>
            <a:ext cx="2524125" cy="1419225"/>
          </a:xfrm>
          <a:prstGeom prst="roundRect">
            <a:avLst>
              <a:gd name="adj" fmla="val 8053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VERIFICACIÓN DE ESTADO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Traza de Registros del Bucle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433762"/>
            <a:ext cx="27128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Vuelta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748087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AX = 04h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986212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BX = 02h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224337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ZF = 0 (Salta a 04h)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5225" y="3433762"/>
            <a:ext cx="27128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Vuelta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5225" y="3748087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AX = 08h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5225" y="3986212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BX = 01h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5225" y="4224337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ZF = 0 (Salta a 04h)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433762"/>
            <a:ext cx="27128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Vuelta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850" y="3748087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AX = 0Ch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850" y="3986212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BX = 00h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4224337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63946"/>
                </a:solidFill>
                <a:latin typeface="Plus Jakarta Sans"/>
              </a:rPr>
              <a:t>ZF = 1 (Fin de Bucle)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475" y="3433762"/>
            <a:ext cx="271283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B4332"/>
                </a:solidFill>
                <a:latin typeface="Plus Jakarta Sans"/>
              </a:rPr>
              <a:t>Escritura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475" y="3748087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RAM[10h] = 0Ch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475" y="3986212"/>
            <a:ext cx="25836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PC = 0Ch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475" y="4224337"/>
            <a:ext cx="2583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B4332"/>
                </a:solidFill>
                <a:latin typeface="Plus Jakarta Sans"/>
              </a:rPr>
              <a:t>Estado COMPLETADO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2867025"/>
            <a:ext cx="3403550" cy="2133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94150" y="2867025"/>
            <a:ext cx="3403550" cy="2133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26300" y="2867025"/>
            <a:ext cx="3403550" cy="21336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 w="9525">
            <a:solidFill>
              <a:srgbClr val="D8F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1813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475" y="31813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625" y="31813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5" y="331470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1350" y="331470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975" y="331470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IMPLEMENTACIÓN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Motor Visual en Excel y VBA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29050"/>
            <a:ext cx="36420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Mapeo Matricial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143375"/>
            <a:ext cx="28701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Traducción matemática de direcciones hexadecimales a celdas exactas de Excel.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8475" y="3829050"/>
            <a:ext cx="36420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Animación de Buses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8475" y="4143375"/>
            <a:ext cx="28701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Destello en tiempo real de los buses de datos y direcciones mediante DoEvents.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0625" y="3829050"/>
            <a:ext cx="36420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B4332"/>
                </a:solidFill>
                <a:latin typeface="Plus Jakarta Sans"/>
              </a:rPr>
              <a:t>Log de Eventos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625" y="4143375"/>
            <a:ext cx="28701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2D6A4F"/>
                </a:solidFill>
                <a:latin typeface="Plus Jakarta Sans"/>
              </a:rPr>
              <a:t>Registro cronológico detallado de micro-operaciones con marca de tiempo.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3048000"/>
            <a:ext cx="5181600" cy="1771650"/>
          </a:xfrm>
          <a:prstGeom prst="roundRect">
            <a:avLst>
              <a:gd name="adj" fmla="val 8602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48000"/>
            <a:ext cx="5181600" cy="1771650"/>
          </a:xfrm>
          <a:prstGeom prst="roundRect">
            <a:avLst>
              <a:gd name="adj" fmla="val 8602"/>
            </a:avLst>
          </a:prstGeom>
          <a:solidFill>
            <a:srgbClr val="F4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390900"/>
            <a:ext cx="180975" cy="19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5334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D6A4F"/>
                </a:solidFill>
                <a:latin typeface="Plus Jakarta Sans"/>
              </a:rPr>
              <a:t>INGENIERÍA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11430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B4332"/>
                </a:solidFill>
                <a:latin typeface="Plus Jakarta Sans"/>
              </a:rPr>
              <a:t>Gestión y Repositorio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3352800"/>
            <a:ext cx="6000750" cy="238125"/>
          </a:xfrm>
          <a:prstGeom prst="rect">
            <a:avLst/>
          </a:prstGeom>
          <a:noFill/>
        </p:spPr>
        <p:txBody>
          <a:bodyPr wrap="none" lIns="27622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Plus Jakarta Sans"/>
              </a:rPr>
              <a:t>Estructura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3352800"/>
            <a:ext cx="5638800" cy="238125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B4332"/>
                </a:solidFill>
                <a:latin typeface="Plus Jakarta Sans"/>
              </a:rPr>
              <a:t>Metodología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743325"/>
            <a:ext cx="571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6A4F"/>
                </a:solidFill>
                <a:latin typeface="Plus Jakarta Sans"/>
              </a:rPr>
              <a:t>/src:</a:t>
            </a:r>
            <a:r>
              <a:rPr sz="1125" b="0" i="0" u="none">
                <a:solidFill>
                  <a:srgbClr val="2D6A4F"/>
                </a:solidFill>
                <a:latin typeface="Plus Jakarta Sans"/>
              </a:rPr>
              <a:t> Libro Excel (.xlsm) y módulo (.bas)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38600"/>
            <a:ext cx="571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6A4F"/>
                </a:solidFill>
                <a:latin typeface="Plus Jakarta Sans"/>
              </a:rPr>
              <a:t>/docs:</a:t>
            </a:r>
            <a:r>
              <a:rPr sz="1125" b="0" i="0" u="none">
                <a:solidFill>
                  <a:srgbClr val="2D6A4F"/>
                </a:solidFill>
                <a:latin typeface="Plus Jakarta Sans"/>
              </a:rPr>
              <a:t> Diagrama Mermaid (.mmd)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333875"/>
            <a:ext cx="57150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6A4F"/>
                </a:solidFill>
                <a:latin typeface="Plus Jakarta Sans"/>
              </a:rPr>
              <a:t>README.md:</a:t>
            </a:r>
            <a:r>
              <a:rPr sz="1125" b="0" i="0" u="none">
                <a:solidFill>
                  <a:srgbClr val="2D6A4F"/>
                </a:solidFill>
                <a:latin typeface="Plus Jakarta Sans"/>
              </a:rPr>
              <a:t> Documentación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743325"/>
            <a:ext cx="5638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6A4F"/>
                </a:solidFill>
                <a:latin typeface="Plus Jakarta Sans"/>
              </a:rPr>
              <a:t>GitHub Projects:</a:t>
            </a:r>
            <a:r>
              <a:rPr sz="1125" b="0" i="0" u="none">
                <a:solidFill>
                  <a:srgbClr val="2D6A4F"/>
                </a:solidFill>
                <a:latin typeface="Plus Jakarta Sans"/>
              </a:rPr>
              <a:t> Tablero Kanban activo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038600"/>
            <a:ext cx="5638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6A4F"/>
                </a:solidFill>
                <a:latin typeface="Plus Jakarta Sans"/>
              </a:rPr>
              <a:t>Commits:</a:t>
            </a:r>
            <a:r>
              <a:rPr sz="1125" b="0" i="0" u="none">
                <a:solidFill>
                  <a:srgbClr val="2D6A4F"/>
                </a:solidFill>
                <a:latin typeface="Plus Jakarta Sans"/>
              </a:rPr>
              <a:t> Historial atómico y semántico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333875"/>
            <a:ext cx="5638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D6A4F"/>
                </a:solidFill>
                <a:latin typeface="Plus Jakarta Sans"/>
              </a:rPr>
              <a:t>Control de Versiones:</a:t>
            </a:r>
            <a:r>
              <a:rPr sz="1125" b="0" i="0" u="none">
                <a:solidFill>
                  <a:srgbClr val="2D6A4F"/>
                </a:solidFill>
                <a:latin typeface="Plus Jakarta Sans"/>
              </a:rPr>
              <a:t> Trazabilidad de cambios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15616" y="3059668"/>
            <a:ext cx="2560766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ES" sz="3600" b="1" i="0" u="none" dirty="0">
                <a:solidFill>
                  <a:srgbClr val="FFFFFF"/>
                </a:solidFill>
                <a:latin typeface="Plus Jakarta Sans"/>
              </a:rPr>
              <a:t>¡</a:t>
            </a:r>
            <a:r>
              <a:rPr lang="es-ES" sz="4800" b="1" i="0" u="none" dirty="0">
                <a:solidFill>
                  <a:srgbClr val="FFFFFF"/>
                </a:solidFill>
                <a:latin typeface="Plus Jakarta Sans"/>
              </a:rPr>
              <a:t>GRACIAS</a:t>
            </a:r>
            <a:r>
              <a:rPr lang="es-ES" sz="3600" b="1" i="0" u="none" dirty="0">
                <a:solidFill>
                  <a:srgbClr val="FFFFFF"/>
                </a:solidFill>
                <a:latin typeface="Plus Jakarta Sans"/>
              </a:rPr>
              <a:t>!</a:t>
            </a:r>
            <a:endParaRPr sz="3600" b="1" i="0" u="none" dirty="0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04096" y="4214812"/>
            <a:ext cx="378380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281E"/>
                </a:solidFill>
                <a:latin typeface="Plus Jakarta Sans"/>
              </a:rPr>
              <a:t>SIS-131 • Universidad Católica Boliviana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527</Words>
  <Application>Microsoft Office PowerPoint</Application>
  <PresentationFormat>Panorámica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Willman Miranda</cp:lastModifiedBy>
  <cp:revision>1</cp:revision>
  <dcterms:created xsi:type="dcterms:W3CDTF">2013-01-27T09:14:16Z</dcterms:created>
  <dcterms:modified xsi:type="dcterms:W3CDTF">2026-09-29T16:36:50Z</dcterms:modified>
  <cp:category/>
</cp:coreProperties>
</file>