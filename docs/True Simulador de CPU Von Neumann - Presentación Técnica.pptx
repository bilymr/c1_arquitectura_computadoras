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embeddedFontLst>
    <p:embeddedFont>
      <p:font typeface="Plus Jakarta Sans"/>
      <p:bold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man Miranda" userId="c7b10592e1de0a71" providerId="LiveId" clId="{28A802FA-D023-4584-A3FB-5D8EC1040C49}"/>
    <pc:docChg chg="undo custSel delSld modSld">
      <pc:chgData name="Willman Miranda" userId="c7b10592e1de0a71" providerId="LiveId" clId="{28A802FA-D023-4584-A3FB-5D8EC1040C49}" dt="2026-10-13T03:20:02.032" v="60" actId="20577"/>
      <pc:docMkLst>
        <pc:docMk/>
      </pc:docMkLst>
      <pc:sldChg chg="modSp mod">
        <pc:chgData name="Willman Miranda" userId="c7b10592e1de0a71" providerId="LiveId" clId="{28A802FA-D023-4584-A3FB-5D8EC1040C49}" dt="2026-10-13T03:17:29.795" v="29" actId="20577"/>
        <pc:sldMkLst>
          <pc:docMk/>
          <pc:sldMk cId="0" sldId="256"/>
        </pc:sldMkLst>
        <pc:spChg chg="mod">
          <ac:chgData name="Willman Miranda" userId="c7b10592e1de0a71" providerId="LiveId" clId="{28A802FA-D023-4584-A3FB-5D8EC1040C49}" dt="2026-10-13T03:17:29.795" v="29" actId="2057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">
        <pc:chgData name="Willman Miranda" userId="c7b10592e1de0a71" providerId="LiveId" clId="{28A802FA-D023-4584-A3FB-5D8EC1040C49}" dt="2026-10-13T03:19:21.969" v="48" actId="1076"/>
        <pc:sldMkLst>
          <pc:docMk/>
          <pc:sldMk cId="0" sldId="257"/>
        </pc:sldMkLst>
        <pc:spChg chg="mod">
          <ac:chgData name="Willman Miranda" userId="c7b10592e1de0a71" providerId="LiveId" clId="{28A802FA-D023-4584-A3FB-5D8EC1040C49}" dt="2026-10-13T03:17:59.300" v="30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Willman Miranda" userId="c7b10592e1de0a71" providerId="LiveId" clId="{28A802FA-D023-4584-A3FB-5D8EC1040C49}" dt="2026-10-13T03:17:59.300" v="30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Willman Miranda" userId="c7b10592e1de0a71" providerId="LiveId" clId="{28A802FA-D023-4584-A3FB-5D8EC1040C49}" dt="2026-10-13T03:17:59.300" v="30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Willman Miranda" userId="c7b10592e1de0a71" providerId="LiveId" clId="{28A802FA-D023-4584-A3FB-5D8EC1040C49}" dt="2026-10-13T03:17:59.300" v="30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Willman Miranda" userId="c7b10592e1de0a71" providerId="LiveId" clId="{28A802FA-D023-4584-A3FB-5D8EC1040C49}" dt="2026-10-13T03:17:59.300" v="30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Willman Miranda" userId="c7b10592e1de0a71" providerId="LiveId" clId="{28A802FA-D023-4584-A3FB-5D8EC1040C49}" dt="2026-10-13T03:18:08.953" v="32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Willman Miranda" userId="c7b10592e1de0a71" providerId="LiveId" clId="{28A802FA-D023-4584-A3FB-5D8EC1040C49}" dt="2026-10-13T03:17:59.300" v="30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Willman Miranda" userId="c7b10592e1de0a71" providerId="LiveId" clId="{28A802FA-D023-4584-A3FB-5D8EC1040C49}" dt="2026-10-13T03:18:04.992" v="31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Willman Miranda" userId="c7b10592e1de0a71" providerId="LiveId" clId="{28A802FA-D023-4584-A3FB-5D8EC1040C49}" dt="2026-10-13T03:17:59.300" v="30" actId="1076"/>
          <ac:spMkLst>
            <pc:docMk/>
            <pc:sldMk cId="0" sldId="257"/>
            <ac:spMk id="15" creationId="{00000000-0000-0000-0000-000000000000}"/>
          </ac:spMkLst>
        </pc:spChg>
        <pc:spChg chg="add del">
          <ac:chgData name="Willman Miranda" userId="c7b10592e1de0a71" providerId="LiveId" clId="{28A802FA-D023-4584-A3FB-5D8EC1040C49}" dt="2026-10-13T03:18:11.043" v="34" actId="22"/>
          <ac:spMkLst>
            <pc:docMk/>
            <pc:sldMk cId="0" sldId="257"/>
            <ac:spMk id="17" creationId="{945D2AB1-0E0D-A8BB-211C-2763BD5AC325}"/>
          </ac:spMkLst>
        </pc:spChg>
        <pc:spChg chg="add mod">
          <ac:chgData name="Willman Miranda" userId="c7b10592e1de0a71" providerId="LiveId" clId="{28A802FA-D023-4584-A3FB-5D8EC1040C49}" dt="2026-10-13T03:19:21.969" v="48" actId="1076"/>
          <ac:spMkLst>
            <pc:docMk/>
            <pc:sldMk cId="0" sldId="257"/>
            <ac:spMk id="19" creationId="{88B5E73A-DDB5-60C7-8D10-1A3A388793B0}"/>
          </ac:spMkLst>
        </pc:spChg>
        <pc:spChg chg="add mod">
          <ac:chgData name="Willman Miranda" userId="c7b10592e1de0a71" providerId="LiveId" clId="{28A802FA-D023-4584-A3FB-5D8EC1040C49}" dt="2026-10-13T03:19:18.233" v="47" actId="1076"/>
          <ac:spMkLst>
            <pc:docMk/>
            <pc:sldMk cId="0" sldId="257"/>
            <ac:spMk id="21" creationId="{A12E52CC-FAF8-A45F-8347-2EF6676219FA}"/>
          </ac:spMkLst>
        </pc:spChg>
        <pc:spChg chg="add mod">
          <ac:chgData name="Willman Miranda" userId="c7b10592e1de0a71" providerId="LiveId" clId="{28A802FA-D023-4584-A3FB-5D8EC1040C49}" dt="2026-10-13T03:19:09.153" v="45" actId="1076"/>
          <ac:spMkLst>
            <pc:docMk/>
            <pc:sldMk cId="0" sldId="257"/>
            <ac:spMk id="23" creationId="{311FD88B-4003-7B8C-C7F7-F788F878FDC9}"/>
          </ac:spMkLst>
        </pc:spChg>
        <pc:spChg chg="add mod">
          <ac:chgData name="Willman Miranda" userId="c7b10592e1de0a71" providerId="LiveId" clId="{28A802FA-D023-4584-A3FB-5D8EC1040C49}" dt="2026-10-13T03:19:09.153" v="45" actId="1076"/>
          <ac:spMkLst>
            <pc:docMk/>
            <pc:sldMk cId="0" sldId="257"/>
            <ac:spMk id="25" creationId="{206CD298-8CA0-95F9-C4CF-4A810180FF83}"/>
          </ac:spMkLst>
        </pc:spChg>
        <pc:spChg chg="add mod">
          <ac:chgData name="Willman Miranda" userId="c7b10592e1de0a71" providerId="LiveId" clId="{28A802FA-D023-4584-A3FB-5D8EC1040C49}" dt="2026-10-13T03:19:09.153" v="45" actId="1076"/>
          <ac:spMkLst>
            <pc:docMk/>
            <pc:sldMk cId="0" sldId="257"/>
            <ac:spMk id="27" creationId="{7595AD5F-3713-42EC-5A75-F12664F76B51}"/>
          </ac:spMkLst>
        </pc:spChg>
        <pc:spChg chg="add mod">
          <ac:chgData name="Willman Miranda" userId="c7b10592e1de0a71" providerId="LiveId" clId="{28A802FA-D023-4584-A3FB-5D8EC1040C49}" dt="2026-10-13T03:19:09.153" v="45" actId="1076"/>
          <ac:spMkLst>
            <pc:docMk/>
            <pc:sldMk cId="0" sldId="257"/>
            <ac:spMk id="29" creationId="{5C4ADFA7-3F9F-0789-BF66-292198C7C440}"/>
          </ac:spMkLst>
        </pc:spChg>
        <pc:spChg chg="add mod">
          <ac:chgData name="Willman Miranda" userId="c7b10592e1de0a71" providerId="LiveId" clId="{28A802FA-D023-4584-A3FB-5D8EC1040C49}" dt="2026-10-13T03:19:09.153" v="45" actId="1076"/>
          <ac:spMkLst>
            <pc:docMk/>
            <pc:sldMk cId="0" sldId="257"/>
            <ac:spMk id="31" creationId="{4710C8A8-963E-3DC8-CF42-834F20751102}"/>
          </ac:spMkLst>
        </pc:spChg>
        <pc:spChg chg="add mod">
          <ac:chgData name="Willman Miranda" userId="c7b10592e1de0a71" providerId="LiveId" clId="{28A802FA-D023-4584-A3FB-5D8EC1040C49}" dt="2026-10-13T03:19:09.153" v="45" actId="1076"/>
          <ac:spMkLst>
            <pc:docMk/>
            <pc:sldMk cId="0" sldId="257"/>
            <ac:spMk id="33" creationId="{83AC7662-DA17-9168-CEC4-27ED7DD872A1}"/>
          </ac:spMkLst>
        </pc:spChg>
        <pc:spChg chg="add mod">
          <ac:chgData name="Willman Miranda" userId="c7b10592e1de0a71" providerId="LiveId" clId="{28A802FA-D023-4584-A3FB-5D8EC1040C49}" dt="2026-10-13T03:19:09.153" v="45" actId="1076"/>
          <ac:spMkLst>
            <pc:docMk/>
            <pc:sldMk cId="0" sldId="257"/>
            <ac:spMk id="35" creationId="{BF87A6F3-6A51-39A8-7EF8-D6F1DC8EE6F7}"/>
          </ac:spMkLst>
        </pc:spChg>
        <pc:spChg chg="add mod">
          <ac:chgData name="Willman Miranda" userId="c7b10592e1de0a71" providerId="LiveId" clId="{28A802FA-D023-4584-A3FB-5D8EC1040C49}" dt="2026-10-13T03:19:09.153" v="45" actId="1076"/>
          <ac:spMkLst>
            <pc:docMk/>
            <pc:sldMk cId="0" sldId="257"/>
            <ac:spMk id="37" creationId="{F9F3AE3E-F27F-9D18-A0BB-AEAD4ACCCFA4}"/>
          </ac:spMkLst>
        </pc:spChg>
        <pc:spChg chg="add mod">
          <ac:chgData name="Willman Miranda" userId="c7b10592e1de0a71" providerId="LiveId" clId="{28A802FA-D023-4584-A3FB-5D8EC1040C49}" dt="2026-10-13T03:19:12.593" v="46" actId="1076"/>
          <ac:spMkLst>
            <pc:docMk/>
            <pc:sldMk cId="0" sldId="257"/>
            <ac:spMk id="39" creationId="{68DFFF86-D6DD-2186-B984-75EF3F116D26}"/>
          </ac:spMkLst>
        </pc:spChg>
        <pc:picChg chg="mod">
          <ac:chgData name="Willman Miranda" userId="c7b10592e1de0a71" providerId="LiveId" clId="{28A802FA-D023-4584-A3FB-5D8EC1040C49}" dt="2026-10-13T03:17:59.300" v="30" actId="1076"/>
          <ac:picMkLst>
            <pc:docMk/>
            <pc:sldMk cId="0" sldId="257"/>
            <ac:picMk id="5" creationId="{00000000-0000-0000-0000-000000000000}"/>
          </ac:picMkLst>
        </pc:picChg>
        <pc:picChg chg="mod">
          <ac:chgData name="Willman Miranda" userId="c7b10592e1de0a71" providerId="LiveId" clId="{28A802FA-D023-4584-A3FB-5D8EC1040C49}" dt="2026-10-13T03:17:59.300" v="30" actId="1076"/>
          <ac:picMkLst>
            <pc:docMk/>
            <pc:sldMk cId="0" sldId="257"/>
            <ac:picMk id="7" creationId="{00000000-0000-0000-0000-000000000000}"/>
          </ac:picMkLst>
        </pc:picChg>
      </pc:sldChg>
      <pc:sldChg chg="delSp del mod">
        <pc:chgData name="Willman Miranda" userId="c7b10592e1de0a71" providerId="LiveId" clId="{28A802FA-D023-4584-A3FB-5D8EC1040C49}" dt="2026-10-13T03:19:24.002" v="49" actId="47"/>
        <pc:sldMkLst>
          <pc:docMk/>
          <pc:sldMk cId="0" sldId="258"/>
        </pc:sldMkLst>
        <pc:spChg chg="del">
          <ac:chgData name="Willman Miranda" userId="c7b10592e1de0a71" providerId="LiveId" clId="{28A802FA-D023-4584-A3FB-5D8EC1040C49}" dt="2026-10-13T03:18:41.995" v="39" actId="21"/>
          <ac:spMkLst>
            <pc:docMk/>
            <pc:sldMk cId="0" sldId="258"/>
            <ac:spMk id="2" creationId="{00000000-0000-0000-0000-000000000000}"/>
          </ac:spMkLst>
        </pc:spChg>
        <pc:spChg chg="del">
          <ac:chgData name="Willman Miranda" userId="c7b10592e1de0a71" providerId="LiveId" clId="{28A802FA-D023-4584-A3FB-5D8EC1040C49}" dt="2026-10-13T03:18:41.995" v="39" actId="21"/>
          <ac:spMkLst>
            <pc:docMk/>
            <pc:sldMk cId="0" sldId="258"/>
            <ac:spMk id="3" creationId="{00000000-0000-0000-0000-000000000000}"/>
          </ac:spMkLst>
        </pc:spChg>
        <pc:spChg chg="del">
          <ac:chgData name="Willman Miranda" userId="c7b10592e1de0a71" providerId="LiveId" clId="{28A802FA-D023-4584-A3FB-5D8EC1040C49}" dt="2026-10-13T03:18:41.995" v="39" actId="21"/>
          <ac:spMkLst>
            <pc:docMk/>
            <pc:sldMk cId="0" sldId="258"/>
            <ac:spMk id="4" creationId="{00000000-0000-0000-0000-000000000000}"/>
          </ac:spMkLst>
        </pc:spChg>
        <pc:spChg chg="del">
          <ac:chgData name="Willman Miranda" userId="c7b10592e1de0a71" providerId="LiveId" clId="{28A802FA-D023-4584-A3FB-5D8EC1040C49}" dt="2026-10-13T03:18:41.995" v="39" actId="21"/>
          <ac:spMkLst>
            <pc:docMk/>
            <pc:sldMk cId="0" sldId="258"/>
            <ac:spMk id="7" creationId="{00000000-0000-0000-0000-000000000000}"/>
          </ac:spMkLst>
        </pc:spChg>
        <pc:spChg chg="del">
          <ac:chgData name="Willman Miranda" userId="c7b10592e1de0a71" providerId="LiveId" clId="{28A802FA-D023-4584-A3FB-5D8EC1040C49}" dt="2026-10-13T03:18:41.995" v="39" actId="21"/>
          <ac:spMkLst>
            <pc:docMk/>
            <pc:sldMk cId="0" sldId="258"/>
            <ac:spMk id="8" creationId="{00000000-0000-0000-0000-000000000000}"/>
          </ac:spMkLst>
        </pc:spChg>
        <pc:spChg chg="del">
          <ac:chgData name="Willman Miranda" userId="c7b10592e1de0a71" providerId="LiveId" clId="{28A802FA-D023-4584-A3FB-5D8EC1040C49}" dt="2026-10-13T03:18:41.995" v="39" actId="21"/>
          <ac:spMkLst>
            <pc:docMk/>
            <pc:sldMk cId="0" sldId="258"/>
            <ac:spMk id="9" creationId="{00000000-0000-0000-0000-000000000000}"/>
          </ac:spMkLst>
        </pc:spChg>
        <pc:spChg chg="del">
          <ac:chgData name="Willman Miranda" userId="c7b10592e1de0a71" providerId="LiveId" clId="{28A802FA-D023-4584-A3FB-5D8EC1040C49}" dt="2026-10-13T03:18:41.995" v="39" actId="21"/>
          <ac:spMkLst>
            <pc:docMk/>
            <pc:sldMk cId="0" sldId="258"/>
            <ac:spMk id="10" creationId="{00000000-0000-0000-0000-000000000000}"/>
          </ac:spMkLst>
        </pc:spChg>
        <pc:spChg chg="del">
          <ac:chgData name="Willman Miranda" userId="c7b10592e1de0a71" providerId="LiveId" clId="{28A802FA-D023-4584-A3FB-5D8EC1040C49}" dt="2026-10-13T03:18:51.914" v="42" actId="21"/>
          <ac:spMkLst>
            <pc:docMk/>
            <pc:sldMk cId="0" sldId="258"/>
            <ac:spMk id="11" creationId="{00000000-0000-0000-0000-000000000000}"/>
          </ac:spMkLst>
        </pc:spChg>
        <pc:spChg chg="del">
          <ac:chgData name="Willman Miranda" userId="c7b10592e1de0a71" providerId="LiveId" clId="{28A802FA-D023-4584-A3FB-5D8EC1040C49}" dt="2026-10-13T03:18:41.995" v="39" actId="21"/>
          <ac:spMkLst>
            <pc:docMk/>
            <pc:sldMk cId="0" sldId="258"/>
            <ac:spMk id="12" creationId="{00000000-0000-0000-0000-000000000000}"/>
          </ac:spMkLst>
        </pc:spChg>
      </pc:sldChg>
      <pc:sldChg chg="modSp mod">
        <pc:chgData name="Willman Miranda" userId="c7b10592e1de0a71" providerId="LiveId" clId="{28A802FA-D023-4584-A3FB-5D8EC1040C49}" dt="2026-10-13T03:20:02.032" v="60" actId="20577"/>
        <pc:sldMkLst>
          <pc:docMk/>
          <pc:sldMk cId="0" sldId="265"/>
        </pc:sldMkLst>
        <pc:spChg chg="mod">
          <ac:chgData name="Willman Miranda" userId="c7b10592e1de0a71" providerId="LiveId" clId="{28A802FA-D023-4584-A3FB-5D8EC1040C49}" dt="2026-10-13T03:20:02.032" v="60" actId="20577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65579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164109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4D399"/>
                </a:solidFill>
                <a:latin typeface="Plus Jakarta Sans"/>
              </a:rPr>
              <a:t>DEFENSA TÉCNICA Y ARQUITECTURA DE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87959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0FDF4"/>
                </a:solidFill>
                <a:latin typeface="Plus Jakarta Sans"/>
              </a:rPr>
              <a:t>Simulador de CPU Von Neumann en Excel VBA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17590"/>
            <a:ext cx="6762750" cy="252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s-ES" sz="1500" b="0" i="0" u="none" dirty="0">
                <a:solidFill>
                  <a:srgbClr val="A7F3D0"/>
                </a:solidFill>
                <a:latin typeface="Plus Jakarta Sans"/>
              </a:rPr>
              <a:t>Willman Eduardo Miranda Rivero</a:t>
            </a:r>
            <a:endParaRPr sz="1500" b="0" i="0" u="none" dirty="0">
              <a:solidFill>
                <a:srgbClr val="A7F3D0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09712"/>
            <a:ext cx="3505200" cy="180975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1600200"/>
            <a:ext cx="3505200" cy="162877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509712"/>
            <a:ext cx="3505200" cy="180975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785937"/>
            <a:ext cx="295275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1876425"/>
            <a:ext cx="295275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1785937"/>
            <a:ext cx="295275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65F46"/>
                </a:solidFill>
                <a:latin typeface="Plus Jakarta Sans"/>
              </a:rPr>
              <a:t>Arquitectura del Sistema (Modelo Von Neumann)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0287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Diseño hardware simplificado implementado íntegramente sobre una hoja de cálculo interactiva en Excel.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2205037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Unidad de Control (UC)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2500312"/>
            <a:ext cx="30480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Interpreta los opcodes mediante un motor Select Case y gestiona el flujo del programa.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7941" y="2205037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ALU (Aritmético-Lógica)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2590800"/>
            <a:ext cx="30480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Realiza operaciones de 8 bits y actualiza las banderas de estado (Zero, Carry, Sign).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3912" y="2203214"/>
            <a:ext cx="3838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Memoria RAM &amp; Buses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2500312"/>
            <a:ext cx="30480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Matriz bidimensional de celdas direccionadas por buses virtuales de datos y direcciones.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88B5E73A-DDB5-60C7-8D10-1A3A388793B0}"/>
              </a:ext>
            </a:extLst>
          </p:cNvPr>
          <p:cNvSpPr txBox="1"/>
          <p:nvPr/>
        </p:nvSpPr>
        <p:spPr>
          <a:xfrm>
            <a:off x="609600" y="3722451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65F46"/>
                </a:solidFill>
                <a:latin typeface="Plus Jakarta Sans"/>
              </a:rPr>
              <a:t>Organización de </a:t>
            </a:r>
            <a:r>
              <a:rPr sz="2400" b="1" i="0" u="none" dirty="0" err="1">
                <a:solidFill>
                  <a:srgbClr val="065F46"/>
                </a:solidFill>
                <a:latin typeface="Plus Jakarta Sans"/>
              </a:rPr>
              <a:t>Registros</a:t>
            </a:r>
            <a:r>
              <a:rPr sz="2400" b="1" i="0" u="none" dirty="0">
                <a:solidFill>
                  <a:srgbClr val="065F46"/>
                </a:solidFill>
                <a:latin typeface="Plus Jakarta Sans"/>
              </a:rPr>
              <a:t> y </a:t>
            </a:r>
            <a:r>
              <a:rPr sz="2400" b="1" i="0" u="none" dirty="0" err="1">
                <a:solidFill>
                  <a:srgbClr val="065F46"/>
                </a:solidFill>
                <a:latin typeface="Plus Jakarta Sans"/>
              </a:rPr>
              <a:t>Segmentación</a:t>
            </a:r>
            <a:endParaRPr sz="2400" b="1" i="0" u="none" dirty="0">
              <a:solidFill>
                <a:srgbClr val="065F46"/>
              </a:solidFill>
              <a:latin typeface="Plus Jakarta Sans"/>
            </a:endParaRP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A12E52CC-FAF8-A45F-8347-2EF6676219FA}"/>
              </a:ext>
            </a:extLst>
          </p:cNvPr>
          <p:cNvSpPr txBox="1"/>
          <p:nvPr/>
        </p:nvSpPr>
        <p:spPr>
          <a:xfrm>
            <a:off x="609600" y="4293951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 err="1">
                <a:solidFill>
                  <a:srgbClr val="475569"/>
                </a:solidFill>
                <a:latin typeface="Plus Jakarta Sans"/>
              </a:rPr>
              <a:t>Mapeo</a:t>
            </a: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Plus Jakarta Sans"/>
              </a:rPr>
              <a:t>físico</a:t>
            </a: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Plus Jakarta Sans"/>
              </a:rPr>
              <a:t>exacto</a:t>
            </a: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 de </a:t>
            </a:r>
            <a:r>
              <a:rPr sz="1200" b="0" i="0" u="none" dirty="0" err="1">
                <a:solidFill>
                  <a:srgbClr val="475569"/>
                </a:solidFill>
                <a:latin typeface="Plus Jakarta Sans"/>
              </a:rPr>
              <a:t>los</a:t>
            </a: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Plus Jakarta Sans"/>
              </a:rPr>
              <a:t>componentes</a:t>
            </a: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Plus Jakarta Sans"/>
              </a:rPr>
              <a:t>internos</a:t>
            </a: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 de la CPU </a:t>
            </a:r>
            <a:r>
              <a:rPr sz="1200" b="0" i="0" u="none" dirty="0" err="1">
                <a:solidFill>
                  <a:srgbClr val="475569"/>
                </a:solidFill>
                <a:latin typeface="Plus Jakarta Sans"/>
              </a:rPr>
              <a:t>dentro</a:t>
            </a:r>
            <a:r>
              <a:rPr sz="1200" b="0" i="0" u="none" dirty="0">
                <a:solidFill>
                  <a:srgbClr val="475569"/>
                </a:solidFill>
                <a:latin typeface="Plus Jakarta Sans"/>
              </a:rPr>
              <a:t> de la hoja Excel.</a:t>
            </a:r>
          </a:p>
        </p:txBody>
      </p:sp>
      <p:sp>
        <p:nvSpPr>
          <p:cNvPr id="23" name="Rounded Rectangle 1">
            <a:extLst>
              <a:ext uri="{FF2B5EF4-FFF2-40B4-BE49-F238E27FC236}">
                <a16:creationId xmlns:a16="http://schemas.microsoft.com/office/drawing/2014/main" id="{311FD88B-4003-7B8C-C7F7-F788F878FDC9}"/>
              </a:ext>
            </a:extLst>
          </p:cNvPr>
          <p:cNvSpPr/>
          <p:nvPr/>
        </p:nvSpPr>
        <p:spPr>
          <a:xfrm>
            <a:off x="609600" y="4714875"/>
            <a:ext cx="350520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">
            <a:extLst>
              <a:ext uri="{FF2B5EF4-FFF2-40B4-BE49-F238E27FC236}">
                <a16:creationId xmlns:a16="http://schemas.microsoft.com/office/drawing/2014/main" id="{206CD298-8CA0-95F9-C4CF-4A810180FF83}"/>
              </a:ext>
            </a:extLst>
          </p:cNvPr>
          <p:cNvSpPr/>
          <p:nvPr/>
        </p:nvSpPr>
        <p:spPr>
          <a:xfrm>
            <a:off x="4343400" y="4714875"/>
            <a:ext cx="350520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3">
            <a:extLst>
              <a:ext uri="{FF2B5EF4-FFF2-40B4-BE49-F238E27FC236}">
                <a16:creationId xmlns:a16="http://schemas.microsoft.com/office/drawing/2014/main" id="{7595AD5F-3713-42EC-5A75-F12664F76B51}"/>
              </a:ext>
            </a:extLst>
          </p:cNvPr>
          <p:cNvSpPr/>
          <p:nvPr/>
        </p:nvSpPr>
        <p:spPr>
          <a:xfrm>
            <a:off x="8077200" y="4714875"/>
            <a:ext cx="3505200" cy="1390650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5C4ADFA7-3F9F-0789-BF66-292198C7C440}"/>
              </a:ext>
            </a:extLst>
          </p:cNvPr>
          <p:cNvSpPr txBox="1"/>
          <p:nvPr/>
        </p:nvSpPr>
        <p:spPr>
          <a:xfrm>
            <a:off x="885825" y="4991100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Plus Jakarta Sans"/>
              </a:rPr>
              <a:t>Celda S7 (Acumulador AX)</a:t>
            </a:r>
          </a:p>
        </p:txBody>
      </p:sp>
      <p:sp>
        <p:nvSpPr>
          <p:cNvPr id="31" name="TextBox 7">
            <a:extLst>
              <a:ext uri="{FF2B5EF4-FFF2-40B4-BE49-F238E27FC236}">
                <a16:creationId xmlns:a16="http://schemas.microsoft.com/office/drawing/2014/main" id="{4710C8A8-963E-3DC8-CF42-834F20751102}"/>
              </a:ext>
            </a:extLst>
          </p:cNvPr>
          <p:cNvSpPr txBox="1"/>
          <p:nvPr/>
        </p:nvSpPr>
        <p:spPr>
          <a:xfrm>
            <a:off x="885825" y="5286375"/>
            <a:ext cx="30480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Registro principal de propósito general para almacenamiento temporal de resultados y cálculos ALU.</a:t>
            </a:r>
          </a:p>
        </p:txBody>
      </p:sp>
      <p:sp>
        <p:nvSpPr>
          <p:cNvPr id="33" name="TextBox 8">
            <a:extLst>
              <a:ext uri="{FF2B5EF4-FFF2-40B4-BE49-F238E27FC236}">
                <a16:creationId xmlns:a16="http://schemas.microsoft.com/office/drawing/2014/main" id="{83AC7662-DA17-9168-CEC4-27ED7DD872A1}"/>
              </a:ext>
            </a:extLst>
          </p:cNvPr>
          <p:cNvSpPr txBox="1"/>
          <p:nvPr/>
        </p:nvSpPr>
        <p:spPr>
          <a:xfrm>
            <a:off x="4619625" y="4991100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Plus Jakarta Sans"/>
              </a:rPr>
              <a:t>Celda W7 (Registro Auxiliar BX)</a:t>
            </a:r>
          </a:p>
        </p:txBody>
      </p:sp>
      <p:sp>
        <p:nvSpPr>
          <p:cNvPr id="35" name="TextBox 9">
            <a:extLst>
              <a:ext uri="{FF2B5EF4-FFF2-40B4-BE49-F238E27FC236}">
                <a16:creationId xmlns:a16="http://schemas.microsoft.com/office/drawing/2014/main" id="{BF87A6F3-6A51-39A8-7EF8-D6F1DC8EE6F7}"/>
              </a:ext>
            </a:extLst>
          </p:cNvPr>
          <p:cNvSpPr txBox="1"/>
          <p:nvPr/>
        </p:nvSpPr>
        <p:spPr>
          <a:xfrm>
            <a:off x="4619625" y="5286375"/>
            <a:ext cx="30480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Segundo registro de apoyo para operaciones binarias combinadas y direccionamiento de operandos.</a:t>
            </a:r>
          </a:p>
        </p:txBody>
      </p:sp>
      <p:sp>
        <p:nvSpPr>
          <p:cNvPr id="37" name="TextBox 11">
            <a:extLst>
              <a:ext uri="{FF2B5EF4-FFF2-40B4-BE49-F238E27FC236}">
                <a16:creationId xmlns:a16="http://schemas.microsoft.com/office/drawing/2014/main" id="{F9F3AE3E-F27F-9D18-A0BB-AEAD4ACCCFA4}"/>
              </a:ext>
            </a:extLst>
          </p:cNvPr>
          <p:cNvSpPr txBox="1"/>
          <p:nvPr/>
        </p:nvSpPr>
        <p:spPr>
          <a:xfrm>
            <a:off x="8353425" y="5286375"/>
            <a:ext cx="30480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Contador de Programa (PC) y registro de banderas dinámicas Z (Zero), C (Carry) y S (Sign).</a:t>
            </a: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68DFFF86-D6DD-2186-B984-75EF3F116D26}"/>
              </a:ext>
            </a:extLst>
          </p:cNvPr>
          <p:cNvSpPr txBox="1"/>
          <p:nvPr/>
        </p:nvSpPr>
        <p:spPr>
          <a:xfrm>
            <a:off x="8273912" y="4991099"/>
            <a:ext cx="3838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59669"/>
                </a:solidFill>
                <a:latin typeface="Plus Jakarta Sans"/>
              </a:rPr>
              <a:t>Celdas</a:t>
            </a:r>
            <a:r>
              <a:rPr sz="1350" b="1" i="0" u="none" dirty="0">
                <a:solidFill>
                  <a:srgbClr val="059669"/>
                </a:solidFill>
                <a:latin typeface="Plus Jakarta Sans"/>
              </a:rPr>
              <a:t> C7 y AA7 (PC &amp; Flags)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319462"/>
            <a:ext cx="2600325" cy="125730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319462"/>
            <a:ext cx="2600325" cy="125730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319462"/>
            <a:ext cx="2600325" cy="125730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319462"/>
            <a:ext cx="2600325" cy="125730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319462"/>
            <a:ext cx="38100" cy="12573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00425" y="3319462"/>
            <a:ext cx="38100" cy="12573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1250" y="3319462"/>
            <a:ext cx="38100" cy="12573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82075" y="3319462"/>
            <a:ext cx="38100" cy="12573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65F46"/>
                </a:solidFill>
                <a:latin typeface="Plus Jakarta Sans"/>
              </a:rPr>
              <a:t>El Ciclo de Instrucción de la CPU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0287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Secuencia fundamental de 4 fases ejecutada de forma continua en cada ciclo de reloj del simulador.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548062"/>
            <a:ext cx="276284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59669"/>
                </a:solidFill>
                <a:latin typeface="Plus Jakarta Sans"/>
              </a:rPr>
              <a:t>1. FETCH (Búsqueda)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833812"/>
            <a:ext cx="22002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La CPU lee la dirección del PC (C7) y extrae el Opcode y operando desde la matriz RAM.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7125" y="3548062"/>
            <a:ext cx="276284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59669"/>
                </a:solidFill>
                <a:latin typeface="Plus Jakarta Sans"/>
              </a:rPr>
              <a:t>2. DECODE (Decodifica)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7125" y="3833812"/>
            <a:ext cx="22002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La Unidad de Control evalúa el byte mediante estructuras condicionales Select 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7950" y="3548062"/>
            <a:ext cx="276284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59669"/>
                </a:solidFill>
                <a:latin typeface="Plus Jakarta Sans"/>
              </a:rPr>
              <a:t>3. EXECUTE (Ejecución)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7950" y="3833812"/>
            <a:ext cx="22002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La ALU procesa la operación matemática o lógica y evalúa las banderas de estado.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775" y="3548062"/>
            <a:ext cx="276284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59669"/>
                </a:solidFill>
                <a:latin typeface="Plus Jakarta Sans"/>
              </a:rPr>
              <a:t>4. STORE (Almacena)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8775" y="3833812"/>
            <a:ext cx="22002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Escribe resultados en registros, memoria RAM y registra el evento en el TextBox con scroll.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047750"/>
            <a:ext cx="10972800" cy="5353050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19125" y="3043237"/>
            <a:ext cx="113154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750665" y="3043237"/>
            <a:ext cx="26827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433441" y="3043237"/>
            <a:ext cx="713943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9125" y="3376612"/>
            <a:ext cx="113154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750665" y="3376612"/>
            <a:ext cx="26827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3441" y="3376612"/>
            <a:ext cx="713943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125" y="3709987"/>
            <a:ext cx="113154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750665" y="3709987"/>
            <a:ext cx="26827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3441" y="3709987"/>
            <a:ext cx="713943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125" y="4043362"/>
            <a:ext cx="113154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50665" y="4043362"/>
            <a:ext cx="26827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3441" y="4043362"/>
            <a:ext cx="713943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125" y="4376737"/>
            <a:ext cx="113154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50665" y="4376737"/>
            <a:ext cx="26827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33441" y="4376737"/>
            <a:ext cx="713943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125" y="4710112"/>
            <a:ext cx="113154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750665" y="4710112"/>
            <a:ext cx="26827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33441" y="4710112"/>
            <a:ext cx="713943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19125" y="2724150"/>
          <a:ext cx="10953748" cy="2000250"/>
        </p:xfrm>
        <a:graphic>
          <a:graphicData uri="http://schemas.openxmlformats.org/drawingml/2006/table">
            <a:tbl>
              <a:tblPr/>
              <a:tblGrid>
                <a:gridCol w="113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94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65F46"/>
                          </a:solidFill>
                          <a:latin typeface="Plus Jakarta Sans"/>
                        </a:rPr>
                        <a:t>Opcode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65F46"/>
                          </a:solidFill>
                          <a:latin typeface="Plus Jakarta Sans"/>
                        </a:rPr>
                        <a:t>Instrucción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 err="1">
                          <a:solidFill>
                            <a:srgbClr val="065F46"/>
                          </a:solidFill>
                          <a:latin typeface="Plus Jakarta Sans"/>
                        </a:rPr>
                        <a:t>Descripción</a:t>
                      </a:r>
                      <a:r>
                        <a:rPr sz="1050" b="1" i="0" u="none" dirty="0">
                          <a:solidFill>
                            <a:srgbClr val="065F46"/>
                          </a:solidFill>
                          <a:latin typeface="Plus Jakarta Sans"/>
                        </a:rPr>
                        <a:t> </a:t>
                      </a:r>
                      <a:r>
                        <a:rPr sz="1050" b="1" i="0" u="none" dirty="0" err="1">
                          <a:solidFill>
                            <a:srgbClr val="065F46"/>
                          </a:solidFill>
                          <a:latin typeface="Plus Jakarta Sans"/>
                        </a:rPr>
                        <a:t>Operativa</a:t>
                      </a:r>
                      <a:endParaRPr sz="1050" b="1" i="0" u="none" dirty="0">
                        <a:solidFill>
                          <a:srgbClr val="065F46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10h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MOV AX, imm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Carga un valor inmediato directamente en el registro acumulador AX.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11h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MOV BX, imm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Carga un valor inmediato en el registro auxiliar BX.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12h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MOV AX, BX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Copia el contenido del registro BX dentro del acumulador AX.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13h / 14h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STORE [dir], AX / BX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Escribe el valor actual de AX o BX en la celda de memoria RAM especificada.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15h / 16h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LOAD AX / BX, [dir]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Lee un </a:t>
                      </a:r>
                      <a:r>
                        <a:rPr sz="1050" b="0" i="0" u="none" dirty="0" err="1">
                          <a:solidFill>
                            <a:srgbClr val="1E293B"/>
                          </a:solidFill>
                          <a:latin typeface="Plus Jakarta Sans"/>
                        </a:rPr>
                        <a:t>dato</a:t>
                      </a:r>
                      <a:r>
                        <a:rPr sz="1050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1E293B"/>
                          </a:solidFill>
                          <a:latin typeface="Plus Jakarta Sans"/>
                        </a:rPr>
                        <a:t>desde</a:t>
                      </a:r>
                      <a:r>
                        <a:rPr sz="1050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1E293B"/>
                          </a:solidFill>
                          <a:latin typeface="Plus Jakarta Sans"/>
                        </a:rPr>
                        <a:t>una</a:t>
                      </a:r>
                      <a:r>
                        <a:rPr sz="1050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 </a:t>
                      </a:r>
                      <a:r>
                        <a:rPr sz="1050" b="0" i="0" u="none" dirty="0" err="1">
                          <a:solidFill>
                            <a:srgbClr val="1E293B"/>
                          </a:solidFill>
                          <a:latin typeface="Plus Jakarta Sans"/>
                        </a:rPr>
                        <a:t>celda</a:t>
                      </a:r>
                      <a:r>
                        <a:rPr sz="1050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 de la RAM y lo carga </a:t>
                      </a:r>
                      <a:r>
                        <a:rPr sz="1050" b="0" i="0" u="none" dirty="0" err="1">
                          <a:solidFill>
                            <a:srgbClr val="1E293B"/>
                          </a:solidFill>
                          <a:latin typeface="Plus Jakarta Sans"/>
                        </a:rPr>
                        <a:t>en</a:t>
                      </a:r>
                      <a:r>
                        <a:rPr sz="1050" b="0" i="0" u="none" dirty="0">
                          <a:solidFill>
                            <a:srgbClr val="1E293B"/>
                          </a:solidFill>
                          <a:latin typeface="Plus Jakarta Sans"/>
                        </a:rPr>
                        <a:t> AX o BX.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09600" y="457200"/>
            <a:ext cx="115824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65F46"/>
                </a:solidFill>
                <a:latin typeface="Plus Jakarta Sans"/>
              </a:rPr>
              <a:t>Repertorio ISA: Transferencia de Datos y Memoria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866775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Instrucciones encargadas de mover constantes y datos entre registros y la memoria RAM.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38250"/>
            <a:ext cx="10972800" cy="5162550"/>
          </a:xfrm>
          <a:prstGeom prst="roundRect">
            <a:avLst>
              <a:gd name="adj" fmla="val 147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19125" y="3138487"/>
            <a:ext cx="119315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12280" y="3138487"/>
            <a:ext cx="257442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6708" y="3138487"/>
            <a:ext cx="718616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9125" y="3471862"/>
            <a:ext cx="119315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12280" y="3471862"/>
            <a:ext cx="257442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6708" y="3471862"/>
            <a:ext cx="718616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125" y="3805237"/>
            <a:ext cx="119315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12280" y="3805237"/>
            <a:ext cx="257442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6708" y="3805237"/>
            <a:ext cx="718616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125" y="4138612"/>
            <a:ext cx="119315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812280" y="4138612"/>
            <a:ext cx="257442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6708" y="4138612"/>
            <a:ext cx="718616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125" y="4471987"/>
            <a:ext cx="119315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812280" y="4471987"/>
            <a:ext cx="257442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6708" y="4471987"/>
            <a:ext cx="718616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9125" y="4805362"/>
            <a:ext cx="119315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812280" y="4805362"/>
            <a:ext cx="257442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86708" y="4805362"/>
            <a:ext cx="7186166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19125" y="2819400"/>
          <a:ext cx="10953749" cy="2000250"/>
        </p:xfrm>
        <a:graphic>
          <a:graphicData uri="http://schemas.openxmlformats.org/drawingml/2006/table">
            <a:tbl>
              <a:tblPr/>
              <a:tblGrid>
                <a:gridCol w="1193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4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61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65F46"/>
                          </a:solidFill>
                          <a:latin typeface="Plus Jakarta Sans"/>
                        </a:rPr>
                        <a:t>Opcode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65F46"/>
                          </a:solidFill>
                          <a:latin typeface="Plus Jakarta Sans"/>
                        </a:rPr>
                        <a:t>Instrucción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65F46"/>
                          </a:solidFill>
                          <a:latin typeface="Plus Jakarta Sans"/>
                        </a:rPr>
                        <a:t>Descripción Operativa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20h / 21h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ADD AX, imm / BX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Suma valor inmediato o BX a AX (AX = AX + operando) con wrap-around de 8 bits.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22h / 23h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INC AX / DEC BX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Incrementa o decrementa registros individuales, actualizando Zero y Sign.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24h / 25h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DEC AX / SUB AX, imm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Decrementa AX o resta un valor inmediato evaluando la bandera Carry (C).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26h / 2Ahl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SUB AX, BX / SUB BX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Realiza resta binaria entre registros y actualiza flags de estado en AA7.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27h / 28h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CMP AX, imm / BX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Compara mediante resta interna sin modificar registros, solo altera banderas.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09600" y="457200"/>
            <a:ext cx="115824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65F46"/>
                </a:solidFill>
                <a:latin typeface="Plus Jakarta Sans"/>
              </a:rPr>
              <a:t>Repertorio ISA: Operaciones Aritméticas (ALU)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866775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Instrucciones para cómputos matemáticos de 8 bits y actualización de banderas lógicas.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38250"/>
            <a:ext cx="10972800" cy="5162550"/>
          </a:xfrm>
          <a:prstGeom prst="roundRect">
            <a:avLst>
              <a:gd name="adj" fmla="val 147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19125" y="3305175"/>
            <a:ext cx="12220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41152" y="3305175"/>
            <a:ext cx="152385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365003" y="3305175"/>
            <a:ext cx="820787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9125" y="3638550"/>
            <a:ext cx="12220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41152" y="3638550"/>
            <a:ext cx="152385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65003" y="3638550"/>
            <a:ext cx="820787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125" y="3971925"/>
            <a:ext cx="12220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41152" y="3971925"/>
            <a:ext cx="152385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65003" y="3971925"/>
            <a:ext cx="820787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125" y="4305300"/>
            <a:ext cx="12220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841152" y="4305300"/>
            <a:ext cx="152385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65003" y="4305300"/>
            <a:ext cx="820787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125" y="4638675"/>
            <a:ext cx="122202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841152" y="4638675"/>
            <a:ext cx="152385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65003" y="4638675"/>
            <a:ext cx="820787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19125" y="2986087"/>
          <a:ext cx="10953749" cy="1666875"/>
        </p:xfrm>
        <a:graphic>
          <a:graphicData uri="http://schemas.openxmlformats.org/drawingml/2006/table">
            <a:tbl>
              <a:tblPr/>
              <a:tblGrid>
                <a:gridCol w="1222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3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07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65F46"/>
                          </a:solidFill>
                          <a:latin typeface="Plus Jakarta Sans"/>
                        </a:rPr>
                        <a:t>Opcode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65F46"/>
                          </a:solidFill>
                          <a:latin typeface="Plus Jakarta Sans"/>
                        </a:rPr>
                        <a:t>Instrucción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65F46"/>
                          </a:solidFill>
                          <a:latin typeface="Plus Jakarta Sans"/>
                        </a:rPr>
                        <a:t>Descripción Operativa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30h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JMP dir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Salto incondicional: Modifica el PC (C7) para desviar la ejecución a otra dirección.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31h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JZ dir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Salto condicional (Jump if Zero): Salta si la bandera Zero está activa (ZF = 1).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32h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JNZ dir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Salto condicional (Jump if Not Zero): Salta si la bandera Zero está inactiva (ZF = 0).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FFh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HLT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Detiene de forma segura el ciclo de ejecución y finaliza el programa activo.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09600" y="457200"/>
            <a:ext cx="115824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65F46"/>
                </a:solidFill>
                <a:latin typeface="Plus Jakarta Sans"/>
              </a:rPr>
              <a:t>Repertorio ISA: Control de Flujo y Sistema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866775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Instrucciones de salto condicional/incondicional y detención de seguridad de la CPU.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62300"/>
            <a:ext cx="5372100" cy="1571625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3162300"/>
            <a:ext cx="5372100" cy="1571625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4257675"/>
            <a:ext cx="1666875" cy="228600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86525" y="4257675"/>
            <a:ext cx="2057400" cy="228600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65F46"/>
                </a:solidFill>
                <a:latin typeface="Plus Jakarta Sans"/>
              </a:rPr>
              <a:t>Programas de Prueba: Suma Sucesiva y Lectura 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0287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Validación algorítmica de operaciones aritméticas y persistencia de datos en memoria.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438525"/>
            <a:ext cx="632579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Plus Jakarta Sans"/>
              </a:rPr>
              <a:t>Programa 1: Multiplicación por Sumas Sucesivas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771900"/>
            <a:ext cx="49149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Utiliza acumulaciones iterativas con bucles basados en DEC AX y saltos condicionales para calcular productos aritméticos.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295775"/>
            <a:ext cx="16097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65F46"/>
                </a:solidFill>
                <a:latin typeface="Plus Jakarta Sans"/>
              </a:rPr>
              <a:t>Validación de ALU y Bucle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3438525"/>
            <a:ext cx="5705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59669"/>
                </a:solidFill>
                <a:latin typeface="Plus Jakarta Sans"/>
              </a:rPr>
              <a:t>Programa 2: Operaciones con Memoria 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3771900"/>
            <a:ext cx="49149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Carga datos almacenados previamente en celdas de la matriz RAM, realiza operaciones auxiliares y guarda resultados con STORE.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295775"/>
            <a:ext cx="20002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65F46"/>
                </a:solidFill>
                <a:latin typeface="Plus Jakarta Sans"/>
              </a:rPr>
              <a:t>Validación de Direccionamiento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14662"/>
            <a:ext cx="6275040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189440" y="3076575"/>
            <a:ext cx="4392959" cy="1743075"/>
          </a:xfrm>
          <a:prstGeom prst="roundRect">
            <a:avLst>
              <a:gd name="adj" fmla="val 6557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765" y="3390900"/>
            <a:ext cx="3764309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65F46"/>
                </a:solidFill>
                <a:latin typeface="Plus Jakarta Sans"/>
              </a:rPr>
              <a:t>Programa de Prueba III: Bifurcación Condicional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287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Demostración avanzada de control de flujo evaluando resultados mediante comparaciones y saltos.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328987"/>
            <a:ext cx="74108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Lógica del Algoritmo de Bifurcación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662362"/>
            <a:ext cx="574164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Compara un registro frente a un valor inmediato empleando la instrucción CMP AX, imm (Opcode 27h), actualizando la bandera Zero (ZF).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195762"/>
            <a:ext cx="574164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Posteriormente, la instrucción JZ (Opcode 31h) desvía el flujo del programa de manera dinámica según el resultado de la comparación lógica.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3765" y="3886200"/>
            <a:ext cx="468823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65F46"/>
                </a:solidFill>
                <a:latin typeface="Plus Jakarta Sans"/>
              </a:rPr>
              <a:t>Evaluación de Banderas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03765" y="4162425"/>
            <a:ext cx="385955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47857"/>
                </a:solidFill>
                <a:latin typeface="Plus Jakarta Sans"/>
              </a:rPr>
              <a:t>El estado de las banderas en la celda AA7 permite la toma de decisiones en tiempo de ejecución.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4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719637" y="3981450"/>
            <a:ext cx="2752725" cy="428625"/>
          </a:xfrm>
          <a:prstGeom prst="roundRect">
            <a:avLst>
              <a:gd name="adj" fmla="val 17777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567264" y="2447925"/>
            <a:ext cx="1057470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ES" sz="3150" b="1" i="0" u="none" dirty="0" err="1">
                <a:solidFill>
                  <a:srgbClr val="F0FDF4"/>
                </a:solidFill>
                <a:latin typeface="Plus Jakarta Sans"/>
              </a:rPr>
              <a:t>Thx</a:t>
            </a:r>
            <a:r>
              <a:rPr lang="es-ES" sz="3150" b="1" i="0" u="none" dirty="0">
                <a:solidFill>
                  <a:srgbClr val="F0FDF4"/>
                </a:solidFill>
                <a:latin typeface="Plus Jakarta Sans"/>
              </a:rPr>
              <a:t> :D</a:t>
            </a:r>
            <a:endParaRPr sz="3150" b="1" i="0" u="none" dirty="0">
              <a:solidFill>
                <a:srgbClr val="F0FDF4"/>
              </a:solidFill>
              <a:latin typeface="Plus Jakarta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28812" y="3143250"/>
            <a:ext cx="83343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 dirty="0" err="1">
                <a:solidFill>
                  <a:srgbClr val="A7F3D0"/>
                </a:solidFill>
                <a:latin typeface="Plus Jakarta Sans"/>
              </a:rPr>
              <a:t>Arquitectura</a:t>
            </a:r>
            <a:r>
              <a:rPr sz="1500" b="0" i="0" u="none" dirty="0">
                <a:solidFill>
                  <a:srgbClr val="A7F3D0"/>
                </a:solidFill>
                <a:latin typeface="Plus Jakarta Sans"/>
              </a:rPr>
              <a:t> modular, </a:t>
            </a:r>
            <a:r>
              <a:rPr sz="1500" b="0" i="0" u="none" dirty="0" err="1">
                <a:solidFill>
                  <a:srgbClr val="A7F3D0"/>
                </a:solidFill>
                <a:latin typeface="Plus Jakarta Sans"/>
              </a:rPr>
              <a:t>consola</a:t>
            </a:r>
            <a:r>
              <a:rPr sz="1500" b="0" i="0" u="none" dirty="0">
                <a:solidFill>
                  <a:srgbClr val="A7F3D0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A7F3D0"/>
                </a:solidFill>
                <a:latin typeface="Plus Jakarta Sans"/>
              </a:rPr>
              <a:t>interactiva</a:t>
            </a:r>
            <a:r>
              <a:rPr sz="1500" b="0" i="0" u="none" dirty="0">
                <a:solidFill>
                  <a:srgbClr val="A7F3D0"/>
                </a:solidFill>
                <a:latin typeface="Plus Jakarta Sans"/>
              </a:rPr>
              <a:t> con </a:t>
            </a:r>
            <a:r>
              <a:rPr sz="1500" b="0" i="0" u="none" dirty="0" err="1">
                <a:solidFill>
                  <a:srgbClr val="A7F3D0"/>
                </a:solidFill>
                <a:latin typeface="Plus Jakarta Sans"/>
              </a:rPr>
              <a:t>historial</a:t>
            </a:r>
            <a:r>
              <a:rPr sz="1500" b="0" i="0" u="none" dirty="0">
                <a:solidFill>
                  <a:srgbClr val="A7F3D0"/>
                </a:solidFill>
                <a:latin typeface="Plus Jakarta Sans"/>
              </a:rPr>
              <a:t> y control total del </a:t>
            </a:r>
            <a:r>
              <a:rPr sz="1500" b="0" i="0" u="none" dirty="0" err="1">
                <a:solidFill>
                  <a:srgbClr val="A7F3D0"/>
                </a:solidFill>
                <a:latin typeface="Plus Jakarta Sans"/>
              </a:rPr>
              <a:t>ciclo</a:t>
            </a:r>
            <a:r>
              <a:rPr sz="1500" b="0" i="0" u="none">
                <a:solidFill>
                  <a:srgbClr val="A7F3D0"/>
                </a:solidFill>
                <a:latin typeface="Plus Jakarta Sans"/>
              </a:rPr>
              <a:t> de hardware </a:t>
            </a:r>
            <a:r>
              <a:rPr sz="1500" b="0" i="0" u="none" dirty="0" err="1">
                <a:solidFill>
                  <a:srgbClr val="A7F3D0"/>
                </a:solidFill>
                <a:latin typeface="Plus Jakarta Sans"/>
              </a:rPr>
              <a:t>en</a:t>
            </a:r>
            <a:r>
              <a:rPr sz="1500" b="0" i="0" u="none" dirty="0">
                <a:solidFill>
                  <a:srgbClr val="A7F3D0"/>
                </a:solidFill>
                <a:latin typeface="Plus Jakarta Sans"/>
              </a:rPr>
              <a:t> Excel VBA.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2246" y="4095750"/>
            <a:ext cx="290750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Preguntas y Respuestas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890</Words>
  <Application>Microsoft Office PowerPoint</Application>
  <PresentationFormat>Panorámica</PresentationFormat>
  <Paragraphs>104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Calibri</vt:lpstr>
      <vt:lpstr>Plus Jakarta Sans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Willman Miranda</cp:lastModifiedBy>
  <cp:revision>1</cp:revision>
  <dcterms:created xsi:type="dcterms:W3CDTF">2013-01-27T09:14:16Z</dcterms:created>
  <dcterms:modified xsi:type="dcterms:W3CDTF">2026-10-13T03:20:15Z</dcterms:modified>
  <cp:category/>
</cp:coreProperties>
</file>